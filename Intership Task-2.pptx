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b9a0b074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b9a0b074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e2356cf5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e2356cf5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>
            <a:alpha val="76920"/>
          </a:srgbClr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Query Language (SQL) – Concepts &amp; Practice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Abotula Yaswanth Kumar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SNS InfoTech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3535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283175"/>
            <a:ext cx="51972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Introduction to SQL</a:t>
            </a:r>
            <a:endParaRPr sz="2400"/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726250"/>
            <a:ext cx="5197200" cy="17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Content: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SQL = Structured Query Language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Used to manage databases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Works with tables (rows &amp; columns)</a:t>
            </a:r>
            <a:endParaRPr b="0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450" y="956525"/>
            <a:ext cx="3106226" cy="3591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 rotWithShape="1">
          <a:blip r:embed="rId4">
            <a:alphaModFix/>
          </a:blip>
          <a:srcRect b="0" l="-13934" r="-2278" t="0"/>
          <a:stretch/>
        </p:blipFill>
        <p:spPr>
          <a:xfrm>
            <a:off x="184925" y="2402175"/>
            <a:ext cx="4141775" cy="238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21400" y="186850"/>
            <a:ext cx="8701200" cy="42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 </a:t>
            </a:r>
            <a:r>
              <a:rPr lang="en" sz="3500">
                <a:solidFill>
                  <a:srgbClr val="FF0000"/>
                </a:solidFill>
              </a:rPr>
              <a:t>Database &amp; Table Creation (DDL):</a:t>
            </a:r>
            <a:endParaRPr sz="35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Concept: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DDL (Data Definition Language) is used to 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 define database structure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It includes commands like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CREATE, ALTER, DROP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0" y="4132376"/>
            <a:ext cx="9144002" cy="9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325" y="991225"/>
            <a:ext cx="4464675" cy="316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283100" y="263925"/>
            <a:ext cx="8631600" cy="42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Data Manipulation (DML)</a:t>
            </a:r>
            <a:endParaRPr sz="23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Concept: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DML is used to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insert, update, and delete data</a:t>
            </a:r>
            <a:r>
              <a:rPr b="0" lang="en" sz="1100">
                <a:latin typeface="Arial"/>
                <a:ea typeface="Arial"/>
                <a:cs typeface="Arial"/>
                <a:sym typeface="Arial"/>
              </a:rPr>
              <a:t> in a table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Commands: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INSERT, UPDATE, DELETE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00" y="2083900"/>
            <a:ext cx="5376600" cy="29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>
            <a:alpha val="76920"/>
          </a:srgbClr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/>
        </p:nvSpPr>
        <p:spPr>
          <a:xfrm>
            <a:off x="211900" y="298625"/>
            <a:ext cx="8034900" cy="15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0000"/>
                </a:solidFill>
              </a:rPr>
              <a:t>Data Query (SELECT)</a:t>
            </a:r>
            <a:endParaRPr b="1" sz="23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Concept: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SELECT is used to </a:t>
            </a:r>
            <a:r>
              <a:rPr b="1" lang="en" sz="1100">
                <a:solidFill>
                  <a:schemeClr val="lt1"/>
                </a:solidFill>
              </a:rPr>
              <a:t>retrieve data from a table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It helps in filtering, sorting, and displaying required data 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70525"/>
            <a:ext cx="4153290" cy="302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8090" y="1970525"/>
            <a:ext cx="4124154" cy="302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>
            <a:alpha val="76920"/>
          </a:srgbClr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/>
        </p:nvSpPr>
        <p:spPr>
          <a:xfrm>
            <a:off x="134875" y="192625"/>
            <a:ext cx="7071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0000"/>
                </a:solidFill>
              </a:rPr>
              <a:t>SQL Clauses (GROUP BY &amp; HAVING)</a:t>
            </a:r>
            <a:endParaRPr sz="2500">
              <a:solidFill>
                <a:srgbClr val="FF0000"/>
              </a:solidFill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36200"/>
            <a:ext cx="7054374" cy="29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0" y="610675"/>
            <a:ext cx="54537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Concept: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SQL clauses help in </a:t>
            </a:r>
            <a:r>
              <a:rPr b="1" lang="en" sz="1100">
                <a:solidFill>
                  <a:schemeClr val="lt1"/>
                </a:solidFill>
              </a:rPr>
              <a:t>filtering and grouping data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GROUP BY</a:t>
            </a:r>
            <a:r>
              <a:rPr lang="en" sz="1100">
                <a:solidFill>
                  <a:schemeClr val="lt1"/>
                </a:solidFill>
              </a:rPr>
              <a:t> → groups similar data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HAVING</a:t>
            </a:r>
            <a:r>
              <a:rPr lang="en" sz="1100">
                <a:solidFill>
                  <a:schemeClr val="lt1"/>
                </a:solidFill>
              </a:rPr>
              <a:t> → applies condition on grouped data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>
            <a:alpha val="76920"/>
          </a:srgbClr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377575" y="119425"/>
            <a:ext cx="4194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0000"/>
                </a:solidFill>
              </a:rPr>
              <a:t>SQL Joins:</a:t>
            </a:r>
            <a:endParaRPr sz="4400">
              <a:solidFill>
                <a:srgbClr val="FF0000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52400" y="861900"/>
            <a:ext cx="30000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Tables Used: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users</a:t>
            </a:r>
            <a:r>
              <a:rPr lang="en" sz="1100">
                <a:solidFill>
                  <a:schemeClr val="lt1"/>
                </a:solidFill>
              </a:rPr>
              <a:t> (user details)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courses</a:t>
            </a:r>
            <a:r>
              <a:rPr lang="en" sz="1100">
                <a:solidFill>
                  <a:schemeClr val="lt1"/>
                </a:solidFill>
              </a:rPr>
              <a:t> (course details)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3154125" y="10498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25" y="3298875"/>
            <a:ext cx="8743401" cy="17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4">
            <a:alphaModFix/>
          </a:blip>
          <a:srcRect b="0" l="0" r="-857" t="0"/>
          <a:stretch/>
        </p:blipFill>
        <p:spPr>
          <a:xfrm>
            <a:off x="3363500" y="763100"/>
            <a:ext cx="5654026" cy="23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>
            <a:alpha val="76920"/>
          </a:srgbClr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/>
        </p:nvSpPr>
        <p:spPr>
          <a:xfrm>
            <a:off x="481600" y="206125"/>
            <a:ext cx="7428300" cy="2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FF0000"/>
                </a:solidFill>
              </a:rPr>
              <a:t>Conclusion</a:t>
            </a:r>
            <a:endParaRPr b="1" sz="44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Content :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Learned basics of </a:t>
            </a:r>
            <a:r>
              <a:rPr b="1" lang="en" sz="1100">
                <a:solidFill>
                  <a:schemeClr val="lt1"/>
                </a:solidFill>
              </a:rPr>
              <a:t>SQL and database management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Performed </a:t>
            </a:r>
            <a:r>
              <a:rPr b="1" lang="en" sz="1100">
                <a:solidFill>
                  <a:schemeClr val="lt1"/>
                </a:solidFill>
              </a:rPr>
              <a:t>DDL, DML, and SELECT queries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Implemented </a:t>
            </a:r>
            <a:r>
              <a:rPr b="1" lang="en" sz="1100">
                <a:solidFill>
                  <a:schemeClr val="lt1"/>
                </a:solidFill>
              </a:rPr>
              <a:t>real-time login/logout data handling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Used </a:t>
            </a:r>
            <a:r>
              <a:rPr b="1" lang="en" sz="1100">
                <a:solidFill>
                  <a:schemeClr val="lt1"/>
                </a:solidFill>
              </a:rPr>
              <a:t>JOIN to combine multiple tables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Gained hands-on experience using </a:t>
            </a:r>
            <a:r>
              <a:rPr b="1" lang="en" sz="1100">
                <a:solidFill>
                  <a:schemeClr val="lt1"/>
                </a:solidFill>
              </a:rPr>
              <a:t>phpMyAdmin</a:t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